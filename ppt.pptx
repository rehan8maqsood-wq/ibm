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9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han8maqsood-wq/IB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4044759543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K REHAN MAQSOOD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rehan8maqsood@gmail.com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7736526371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Artificial Intelligence (AI)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AI Agent for Electricity Bill Fraud Detection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B872BD-B59D-CC3F-6B1A-155B78B80F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031" y="3652448"/>
            <a:ext cx="940435" cy="65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165753"/>
            <a:ext cx="106070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- AI Agent for Electricity Bill Fraud Detection</a:t>
            </a:r>
          </a:p>
          <a:p>
            <a:pPr fontAlgn="base"/>
            <a:r>
              <a:rPr lang="en-US" b="1" dirty="0"/>
              <a:t>The Challenge</a:t>
            </a:r>
          </a:p>
          <a:p>
            <a:pPr fontAlgn="base"/>
            <a:r>
              <a:rPr lang="en-US" b="1" dirty="0"/>
              <a:t>Electricity fraud and billing anomalies lead to major financial losses for power distribution</a:t>
            </a:r>
          </a:p>
          <a:p>
            <a:pPr fontAlgn="base"/>
            <a:r>
              <a:rPr lang="en-US" b="1" dirty="0"/>
              <a:t>companies. With thousands of consumers and massive billing data, detecting suspicious</a:t>
            </a:r>
          </a:p>
          <a:p>
            <a:pPr fontAlgn="base"/>
            <a:r>
              <a:rPr lang="en-US" b="1" dirty="0"/>
              <a:t>consumption patterns manually is extremely difficult. Utilities need an intelligent AI system</a:t>
            </a:r>
          </a:p>
          <a:p>
            <a:pPr fontAlgn="base"/>
            <a:r>
              <a:rPr lang="en-US" b="1" dirty="0"/>
              <a:t>that can automatically analyze electricity usage data and identify potential fraud cases.</a:t>
            </a:r>
          </a:p>
          <a:p>
            <a:pPr fontAlgn="base"/>
            <a:r>
              <a:rPr lang="en-US" b="1" dirty="0"/>
              <a:t>The Objective</a:t>
            </a:r>
          </a:p>
          <a:p>
            <a:pPr fontAlgn="base"/>
            <a:r>
              <a:rPr lang="en-US" b="1" dirty="0"/>
              <a:t>Build an AI Agent for Electricity Bill Fraud Detection that analyzes electricity</a:t>
            </a:r>
          </a:p>
          <a:p>
            <a:pPr fontAlgn="base"/>
            <a:r>
              <a:rPr lang="en-US" b="1" dirty="0"/>
              <a:t>consumption and billing records to detect abnormal patterns and flag potential fraud cases.</a:t>
            </a:r>
          </a:p>
          <a:p>
            <a:pPr fontAlgn="base"/>
            <a:r>
              <a:rPr lang="en-US" b="1" dirty="0"/>
              <a:t>The solution should:</a:t>
            </a:r>
          </a:p>
          <a:p>
            <a:pPr fontAlgn="base"/>
            <a:r>
              <a:rPr lang="en-US" b="1" dirty="0"/>
              <a:t>1. Electricity Consumption Analysis – Analyze consumer electricity usage data to</a:t>
            </a:r>
          </a:p>
          <a:p>
            <a:pPr fontAlgn="base"/>
            <a:r>
              <a:rPr lang="en-US" b="1" dirty="0"/>
              <a:t>understand normal consumption behavior and trends.</a:t>
            </a:r>
          </a:p>
          <a:p>
            <a:pPr fontAlgn="base"/>
            <a:r>
              <a:rPr lang="en-US" b="1" dirty="0"/>
              <a:t>2. Fraud Pattern Identification – Detect suspicious activities such as sudden drops in</a:t>
            </a:r>
          </a:p>
          <a:p>
            <a:pPr fontAlgn="base"/>
            <a:r>
              <a:rPr lang="en-US" b="1" dirty="0"/>
              <a:t>usage, unusual spikes, or inconsistencies between meter readings and billed units.</a:t>
            </a:r>
          </a:p>
          <a:p>
            <a:pPr fontAlgn="base"/>
            <a:r>
              <a:rPr lang="en-US" b="1" dirty="0"/>
              <a:t>3. AI-Based Anomaly Detection – Automatically identify consumers whose usage patterns</a:t>
            </a:r>
          </a:p>
          <a:p>
            <a:pPr fontAlgn="base"/>
            <a:r>
              <a:rPr lang="en-US" b="1" dirty="0"/>
              <a:t>significantly deviate from normal historical behavior.</a:t>
            </a:r>
          </a:p>
          <a:p>
            <a:pPr fontAlgn="base"/>
            <a:r>
              <a:rPr lang="en-US" b="1" dirty="0"/>
              <a:t>4. Explainable AI Insights – Provide clear explanations for why a particular consumer or</a:t>
            </a:r>
          </a:p>
          <a:p>
            <a:pPr fontAlgn="base"/>
            <a:r>
              <a:rPr lang="en-US" b="1" dirty="0"/>
              <a:t>electricity bill is flagged as suspicious.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1" y="1234440"/>
            <a:ext cx="13013266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sz="800" b="1" dirty="0"/>
          </a:p>
          <a:p>
            <a:r>
              <a:rPr lang="en-IN" sz="800" b="1" dirty="0"/>
              <a:t>Proposed Solution</a:t>
            </a:r>
          </a:p>
          <a:p>
            <a:r>
              <a:rPr lang="en-IN" sz="800" dirty="0"/>
              <a:t>We propose to develop an </a:t>
            </a:r>
            <a:r>
              <a:rPr lang="en-IN" sz="800" b="1" dirty="0"/>
              <a:t>AI-powered Electricity Bill Fraud Detection Agent</a:t>
            </a:r>
            <a:r>
              <a:rPr lang="en-IN" sz="800" dirty="0"/>
              <a:t> that automatically </a:t>
            </a:r>
            <a:r>
              <a:rPr lang="en-IN" sz="800" dirty="0" err="1"/>
              <a:t>analyzes</a:t>
            </a:r>
            <a:r>
              <a:rPr lang="en-IN" sz="800" dirty="0"/>
              <a:t> consumer electricity consumption and billing data to identify abnormal and potentially fraudulent patterns.</a:t>
            </a:r>
          </a:p>
          <a:p>
            <a:r>
              <a:rPr lang="en-IN" sz="800" dirty="0"/>
              <a:t>The system will combine </a:t>
            </a:r>
            <a:r>
              <a:rPr lang="en-IN" sz="800" b="1" dirty="0"/>
              <a:t>data analysis, anomaly detection, and AI-generated explanations</a:t>
            </a:r>
            <a:r>
              <a:rPr lang="en-IN" sz="800" dirty="0"/>
              <a:t> to help electricity providers identify suspicious bills and consumers.</a:t>
            </a:r>
          </a:p>
          <a:p>
            <a:r>
              <a:rPr lang="en-IN" sz="800" b="1" dirty="0"/>
              <a:t>Proposed Solution Components</a:t>
            </a:r>
          </a:p>
          <a:p>
            <a:pPr lvl="0"/>
            <a:r>
              <a:rPr lang="en-IN" sz="800" b="1" dirty="0"/>
              <a:t>Consumer Data Collection</a:t>
            </a:r>
            <a:r>
              <a:rPr lang="en-IN" sz="800" dirty="0"/>
              <a:t> </a:t>
            </a:r>
          </a:p>
          <a:p>
            <a:pPr lvl="1"/>
            <a:r>
              <a:rPr lang="en-IN" sz="800" dirty="0"/>
              <a:t>Collect consumer ID, meter readings, previous consumption, current consumption, billing units, bill amount, and billing dates. </a:t>
            </a:r>
          </a:p>
          <a:p>
            <a:pPr lvl="1"/>
            <a:r>
              <a:rPr lang="en-IN" sz="800" dirty="0"/>
              <a:t>Store historical records for comparison. </a:t>
            </a:r>
          </a:p>
          <a:p>
            <a:pPr lvl="0"/>
            <a:r>
              <a:rPr lang="en-IN" sz="800" b="1" dirty="0"/>
              <a:t>Electricity Consumption Analysis</a:t>
            </a:r>
            <a:r>
              <a:rPr lang="en-IN" sz="800" dirty="0"/>
              <a:t> </a:t>
            </a:r>
          </a:p>
          <a:p>
            <a:pPr lvl="1"/>
            <a:r>
              <a:rPr lang="en-IN" sz="800" dirty="0" err="1"/>
              <a:t>Analyze</a:t>
            </a:r>
            <a:r>
              <a:rPr lang="en-IN" sz="800" dirty="0"/>
              <a:t> each consumer's historical electricity usage. </a:t>
            </a:r>
          </a:p>
          <a:p>
            <a:pPr lvl="1"/>
            <a:r>
              <a:rPr lang="en-IN" sz="800" dirty="0"/>
              <a:t>Calculate normal/average consumption patterns. </a:t>
            </a:r>
          </a:p>
          <a:p>
            <a:pPr lvl="1"/>
            <a:r>
              <a:rPr lang="en-IN" sz="800" dirty="0"/>
              <a:t>Compare current consumption with previous billing periods. </a:t>
            </a:r>
          </a:p>
          <a:p>
            <a:pPr lvl="0"/>
            <a:r>
              <a:rPr lang="en-IN" sz="800" b="1" dirty="0"/>
              <a:t>AI-Based Anomaly Detection</a:t>
            </a:r>
            <a:r>
              <a:rPr lang="en-IN" sz="800" dirty="0"/>
              <a:t> </a:t>
            </a:r>
          </a:p>
          <a:p>
            <a:pPr lvl="1"/>
            <a:r>
              <a:rPr lang="en-IN" sz="800" dirty="0"/>
              <a:t>Detect unusual changes such as: </a:t>
            </a:r>
          </a:p>
          <a:p>
            <a:pPr lvl="2"/>
            <a:r>
              <a:rPr lang="en-IN" sz="800" dirty="0"/>
              <a:t>Sudden drop in electricity consumption </a:t>
            </a:r>
          </a:p>
          <a:p>
            <a:pPr lvl="2"/>
            <a:r>
              <a:rPr lang="en-IN" sz="800" dirty="0"/>
              <a:t>Unusual increase in consumption </a:t>
            </a:r>
          </a:p>
          <a:p>
            <a:pPr lvl="2"/>
            <a:r>
              <a:rPr lang="en-IN" sz="800" dirty="0"/>
              <a:t>Repeated abnormal readings </a:t>
            </a:r>
          </a:p>
          <a:p>
            <a:pPr lvl="2"/>
            <a:r>
              <a:rPr lang="en-IN" sz="800" dirty="0"/>
              <a:t>Zero/very-low consumption despite previous high usage </a:t>
            </a:r>
          </a:p>
          <a:p>
            <a:pPr lvl="2"/>
            <a:r>
              <a:rPr lang="en-IN" sz="800" dirty="0"/>
              <a:t>Large differences between meter readings and billed units </a:t>
            </a:r>
          </a:p>
          <a:p>
            <a:pPr lvl="0"/>
            <a:r>
              <a:rPr lang="en-IN" sz="800" b="1" dirty="0"/>
              <a:t>Fraud Risk Scoring</a:t>
            </a:r>
            <a:r>
              <a:rPr lang="en-IN" sz="800" dirty="0"/>
              <a:t> </a:t>
            </a:r>
          </a:p>
          <a:p>
            <a:pPr lvl="1"/>
            <a:r>
              <a:rPr lang="en-IN" sz="800" dirty="0"/>
              <a:t>Assign a </a:t>
            </a:r>
            <a:r>
              <a:rPr lang="en-IN" sz="800" b="1" dirty="0"/>
              <a:t>risk score</a:t>
            </a:r>
            <a:r>
              <a:rPr lang="en-IN" sz="800" dirty="0"/>
              <a:t> to each consumer based on detected anomalies. </a:t>
            </a:r>
          </a:p>
          <a:p>
            <a:pPr lvl="1"/>
            <a:r>
              <a:rPr lang="en-IN" sz="800" dirty="0"/>
              <a:t>Categorize cases as: </a:t>
            </a:r>
          </a:p>
          <a:p>
            <a:pPr lvl="2"/>
            <a:r>
              <a:rPr lang="en-IN" sz="800" b="1" dirty="0"/>
              <a:t>Normal</a:t>
            </a:r>
            <a:r>
              <a:rPr lang="en-IN" sz="800" dirty="0"/>
              <a:t> </a:t>
            </a:r>
          </a:p>
          <a:p>
            <a:pPr lvl="2"/>
            <a:r>
              <a:rPr lang="en-IN" sz="800" b="1" dirty="0"/>
              <a:t>Suspicious</a:t>
            </a:r>
            <a:r>
              <a:rPr lang="en-IN" sz="800" dirty="0"/>
              <a:t> </a:t>
            </a:r>
          </a:p>
          <a:p>
            <a:pPr lvl="2"/>
            <a:r>
              <a:rPr lang="en-IN" sz="800" b="1" dirty="0"/>
              <a:t>High Risk</a:t>
            </a:r>
            <a:r>
              <a:rPr lang="en-IN" sz="800" dirty="0"/>
              <a:t> </a:t>
            </a:r>
          </a:p>
          <a:p>
            <a:pPr lvl="0"/>
            <a:r>
              <a:rPr lang="en-IN" sz="800" b="1" dirty="0"/>
              <a:t>Explainable AI</a:t>
            </a:r>
            <a:r>
              <a:rPr lang="en-IN" sz="800" dirty="0"/>
              <a:t> </a:t>
            </a:r>
          </a:p>
          <a:p>
            <a:pPr lvl="1"/>
            <a:r>
              <a:rPr lang="en-IN" sz="800" dirty="0"/>
              <a:t>Instead of simply saying </a:t>
            </a:r>
            <a:r>
              <a:rPr lang="en-IN" sz="800" i="1" dirty="0"/>
              <a:t>“Fraud detected,”</a:t>
            </a:r>
            <a:r>
              <a:rPr lang="en-IN" sz="800" dirty="0"/>
              <a:t> the system explains </a:t>
            </a:r>
            <a:r>
              <a:rPr lang="en-IN" sz="800" b="1" dirty="0"/>
              <a:t>why the bill was flagged</a:t>
            </a:r>
            <a:r>
              <a:rPr lang="en-IN" sz="800" dirty="0"/>
              <a:t>. </a:t>
            </a:r>
          </a:p>
          <a:p>
            <a:pPr lvl="1"/>
            <a:r>
              <a:rPr lang="en-IN" sz="800" dirty="0"/>
              <a:t>Example:</a:t>
            </a:r>
          </a:p>
          <a:p>
            <a:pPr lvl="1"/>
            <a:r>
              <a:rPr lang="en-IN" sz="800" dirty="0"/>
              <a:t>“Consumer C102 is flagged as suspicious because electricity consumption decreased by 72% compared with the previous 6-month average.”</a:t>
            </a:r>
          </a:p>
          <a:p>
            <a:pPr lvl="0"/>
            <a:r>
              <a:rPr lang="en-IN" sz="800" b="1" dirty="0"/>
              <a:t>AI Agent</a:t>
            </a:r>
            <a:r>
              <a:rPr lang="en-IN" sz="800" dirty="0"/>
              <a:t> </a:t>
            </a:r>
          </a:p>
          <a:p>
            <a:pPr lvl="1"/>
            <a:r>
              <a:rPr lang="en-IN" sz="800" dirty="0"/>
              <a:t>The AI agent reviews the detected anomalies and generates a human-readable investigation summary. </a:t>
            </a:r>
          </a:p>
          <a:p>
            <a:pPr lvl="1"/>
            <a:r>
              <a:rPr lang="en-IN" sz="800" dirty="0"/>
              <a:t>It can answer questions such as: </a:t>
            </a:r>
          </a:p>
          <a:p>
            <a:pPr lvl="2"/>
            <a:r>
              <a:rPr lang="en-IN" sz="800" dirty="0"/>
              <a:t>“Why was this consumer flagged?” </a:t>
            </a:r>
          </a:p>
          <a:p>
            <a:pPr lvl="2"/>
            <a:r>
              <a:rPr lang="en-IN" sz="800" dirty="0"/>
              <a:t>“What changed in their consumption?” </a:t>
            </a:r>
          </a:p>
          <a:p>
            <a:pPr lvl="2"/>
            <a:r>
              <a:rPr lang="en-IN" sz="800" dirty="0"/>
              <a:t>“Which bills require investigation?” </a:t>
            </a:r>
          </a:p>
          <a:p>
            <a:pPr lvl="2"/>
            <a:r>
              <a:rPr lang="en-IN" sz="800" dirty="0"/>
              <a:t>“How many suspicious cases were detected?” </a:t>
            </a:r>
          </a:p>
          <a:p>
            <a:pPr lvl="0"/>
            <a:r>
              <a:rPr lang="en-IN" sz="800" b="1" dirty="0"/>
              <a:t>Interactive Dashboard</a:t>
            </a:r>
            <a:r>
              <a:rPr lang="en-IN" sz="800" dirty="0"/>
              <a:t> </a:t>
            </a:r>
          </a:p>
          <a:p>
            <a:pPr lvl="1"/>
            <a:r>
              <a:rPr lang="en-IN" sz="800" dirty="0"/>
              <a:t>Display: </a:t>
            </a:r>
          </a:p>
          <a:p>
            <a:pPr lvl="2"/>
            <a:r>
              <a:rPr lang="en-IN" sz="800" dirty="0"/>
              <a:t>Total consumers </a:t>
            </a:r>
            <a:r>
              <a:rPr lang="en-IN" sz="800" dirty="0" err="1"/>
              <a:t>analyzed</a:t>
            </a:r>
            <a:r>
              <a:rPr lang="en-IN" sz="800" dirty="0"/>
              <a:t> </a:t>
            </a:r>
          </a:p>
          <a:p>
            <a:pPr lvl="2"/>
            <a:r>
              <a:rPr lang="en-IN" sz="800" dirty="0"/>
              <a:t>Normal bills </a:t>
            </a:r>
          </a:p>
          <a:p>
            <a:pPr lvl="2"/>
            <a:r>
              <a:rPr lang="en-IN" sz="800" dirty="0"/>
              <a:t>Suspicious cases </a:t>
            </a:r>
          </a:p>
          <a:p>
            <a:pPr lvl="2"/>
            <a:r>
              <a:rPr lang="en-IN" sz="800" dirty="0"/>
              <a:t>High-risk cases </a:t>
            </a:r>
          </a:p>
          <a:p>
            <a:pPr lvl="2"/>
            <a:r>
              <a:rPr lang="en-IN" sz="800" dirty="0"/>
              <a:t>Consumption trends </a:t>
            </a:r>
          </a:p>
          <a:p>
            <a:pPr lvl="2"/>
            <a:r>
              <a:rPr lang="en-IN" sz="800" dirty="0"/>
              <a:t>Fraud/anomaly alerts </a:t>
            </a:r>
          </a:p>
          <a:p>
            <a:pPr lvl="2"/>
            <a:r>
              <a:rPr lang="en-IN" sz="800" dirty="0"/>
              <a:t>Consumer-level investigation details</a:t>
            </a:r>
          </a:p>
          <a:p>
            <a:endParaRPr lang="en-IN" sz="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800" b="1" dirty="0"/>
              <a:t>IBM Bob Platform</a:t>
            </a:r>
            <a:r>
              <a:rPr lang="en-IN" sz="1800" dirty="0"/>
              <a:t> – For designing and orchestrating the </a:t>
            </a:r>
            <a:r>
              <a:rPr lang="en-IN" sz="1800" b="1" dirty="0"/>
              <a:t>AI Agent workflow</a:t>
            </a:r>
            <a:r>
              <a:rPr lang="en-IN" sz="1800" dirty="0"/>
              <a:t>, including electricity consumption analysis, anomaly identification, and generation of fraud-detection insights. </a:t>
            </a:r>
          </a:p>
          <a:p>
            <a:pPr lvl="0"/>
            <a:r>
              <a:rPr lang="en-IN" sz="1800" b="1" dirty="0"/>
              <a:t>React.js</a:t>
            </a:r>
            <a:r>
              <a:rPr lang="en-IN" sz="1800" dirty="0"/>
              <a:t> – For developing the </a:t>
            </a:r>
            <a:r>
              <a:rPr lang="en-IN" sz="1800" b="1" dirty="0"/>
              <a:t>interactive frontend dashboard</a:t>
            </a:r>
            <a:r>
              <a:rPr lang="en-IN" sz="1800" dirty="0"/>
              <a:t> to display electricity consumption data, suspicious cases, risk information, alerts, and AI-generated explanations. </a:t>
            </a:r>
          </a:p>
          <a:p>
            <a:pPr lvl="0"/>
            <a:r>
              <a:rPr lang="en-IN" sz="1800" b="1" dirty="0" err="1"/>
              <a:t>Groq</a:t>
            </a:r>
            <a:r>
              <a:rPr lang="en-IN" sz="1800" b="1" dirty="0"/>
              <a:t> API</a:t>
            </a:r>
            <a:r>
              <a:rPr lang="en-IN" sz="1800" dirty="0"/>
              <a:t> – Used to connect the application with an </a:t>
            </a:r>
            <a:r>
              <a:rPr lang="en-IN" sz="1800" b="1" dirty="0"/>
              <a:t>AI/LLM model</a:t>
            </a:r>
            <a:r>
              <a:rPr lang="en-IN" sz="1800" dirty="0"/>
              <a:t> for </a:t>
            </a:r>
            <a:r>
              <a:rPr lang="en-IN" sz="1800" dirty="0" err="1"/>
              <a:t>analyzing</a:t>
            </a:r>
            <a:r>
              <a:rPr lang="en-IN" sz="1800" dirty="0"/>
              <a:t> detected anomalies and generating natural-language explanations and insights. </a:t>
            </a:r>
          </a:p>
          <a:p>
            <a:pPr lvl="0"/>
            <a:r>
              <a:rPr lang="en-IN" sz="1800" b="1" dirty="0"/>
              <a:t>Node.js</a:t>
            </a:r>
            <a:r>
              <a:rPr lang="en-IN" sz="1800" dirty="0"/>
              <a:t> – Used as the </a:t>
            </a:r>
            <a:r>
              <a:rPr lang="en-IN" sz="1800" b="1" dirty="0"/>
              <a:t>backend runtime environment</a:t>
            </a:r>
            <a:r>
              <a:rPr lang="en-IN" sz="1800" dirty="0"/>
              <a:t> for handling server-side operations and connecting the frontend with the AI services. </a:t>
            </a:r>
          </a:p>
          <a:p>
            <a:pPr lvl="0"/>
            <a:r>
              <a:rPr lang="en-IN" sz="1800" b="1" dirty="0"/>
              <a:t>Express.js</a:t>
            </a:r>
            <a:r>
              <a:rPr lang="en-IN" sz="1800" dirty="0"/>
              <a:t> – Used to build the </a:t>
            </a:r>
            <a:r>
              <a:rPr lang="en-IN" sz="1800" b="1" dirty="0"/>
              <a:t>backend REST APIs</a:t>
            </a:r>
            <a:r>
              <a:rPr lang="en-IN" sz="1800" dirty="0"/>
              <a:t> for receiving electricity billing data, processing requests, communicating with the AI service, and sending results back to the React frontend.</a:t>
            </a:r>
          </a:p>
          <a:p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Required Files created using IBM bob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000" dirty="0"/>
              <a:t>1.</a:t>
            </a:r>
            <a:r>
              <a:rPr lang="en-IN" sz="1000" b="1" dirty="0"/>
              <a:t>Backend</a:t>
            </a:r>
          </a:p>
          <a:p>
            <a:pPr lvl="0"/>
            <a:r>
              <a:rPr lang="en-IN" sz="1000" dirty="0"/>
              <a:t>server.js – Main backend server </a:t>
            </a:r>
          </a:p>
          <a:p>
            <a:pPr lvl="0"/>
            <a:r>
              <a:rPr lang="en-IN" sz="1000" dirty="0"/>
              <a:t>.env – Stores API/environment configuration </a:t>
            </a:r>
          </a:p>
          <a:p>
            <a:pPr lvl="0"/>
            <a:r>
              <a:rPr lang="en-IN" sz="1000" dirty="0" err="1"/>
              <a:t>package.json</a:t>
            </a:r>
            <a:r>
              <a:rPr lang="en-IN" sz="1000" dirty="0"/>
              <a:t> – Backend dependencies and scripts </a:t>
            </a:r>
          </a:p>
          <a:p>
            <a:pPr lvl="0"/>
            <a:r>
              <a:rPr lang="en-IN" sz="1000" dirty="0"/>
              <a:t>routes/ </a:t>
            </a:r>
          </a:p>
          <a:p>
            <a:pPr lvl="1"/>
            <a:r>
              <a:rPr lang="en-IN" sz="1000" dirty="0"/>
              <a:t>aiInvestigation.js </a:t>
            </a:r>
          </a:p>
          <a:p>
            <a:pPr lvl="1"/>
            <a:r>
              <a:rPr lang="en-IN" sz="1000" dirty="0"/>
              <a:t>alerts.js </a:t>
            </a:r>
          </a:p>
          <a:p>
            <a:pPr lvl="1"/>
            <a:r>
              <a:rPr lang="en-IN" sz="1000" dirty="0"/>
              <a:t>analyze.js </a:t>
            </a:r>
          </a:p>
          <a:p>
            <a:pPr lvl="1"/>
            <a:r>
              <a:rPr lang="en-IN" sz="1000" dirty="0"/>
              <a:t>bills.js </a:t>
            </a:r>
          </a:p>
          <a:p>
            <a:pPr lvl="1"/>
            <a:r>
              <a:rPr lang="en-IN" sz="1000" dirty="0"/>
              <a:t>consumers.js </a:t>
            </a:r>
          </a:p>
          <a:p>
            <a:pPr lvl="1"/>
            <a:r>
              <a:rPr lang="en-IN" sz="1000" dirty="0"/>
              <a:t>dashboard.js </a:t>
            </a:r>
          </a:p>
          <a:p>
            <a:pPr lvl="1"/>
            <a:r>
              <a:rPr lang="en-IN" sz="1000" dirty="0"/>
              <a:t>reports.js </a:t>
            </a:r>
          </a:p>
          <a:p>
            <a:pPr lvl="0"/>
            <a:r>
              <a:rPr lang="en-IN" sz="1000" dirty="0"/>
              <a:t>services/ </a:t>
            </a:r>
          </a:p>
          <a:p>
            <a:pPr lvl="1"/>
            <a:r>
              <a:rPr lang="en-IN" sz="1000" dirty="0"/>
              <a:t>anomalyDetection.js – Detects abnormal electricity consumption patterns </a:t>
            </a:r>
          </a:p>
          <a:p>
            <a:pPr lvl="1"/>
            <a:r>
              <a:rPr lang="en-IN" sz="1000" dirty="0"/>
              <a:t>grokService.js – Connects with </a:t>
            </a:r>
            <a:r>
              <a:rPr lang="en-IN" sz="1000" dirty="0" err="1"/>
              <a:t>Groq</a:t>
            </a:r>
            <a:r>
              <a:rPr lang="en-IN" sz="1000" dirty="0"/>
              <a:t> AI for AI-based analysis </a:t>
            </a:r>
          </a:p>
          <a:p>
            <a:pPr lvl="0"/>
            <a:r>
              <a:rPr lang="en-IN" sz="1000" dirty="0"/>
              <a:t>models/ – Database/data models </a:t>
            </a:r>
          </a:p>
          <a:p>
            <a:pPr lvl="0"/>
            <a:r>
              <a:rPr lang="en-IN" sz="1000" dirty="0"/>
              <a:t>utils/ – Utility/helper functions</a:t>
            </a:r>
          </a:p>
          <a:p>
            <a:pPr lvl="0"/>
            <a:r>
              <a:rPr lang="en-IN" sz="1000" dirty="0"/>
              <a:t>2. </a:t>
            </a:r>
            <a:r>
              <a:rPr lang="en-IN" sz="1000" b="1" dirty="0"/>
              <a:t>Frontend</a:t>
            </a:r>
            <a:r>
              <a:rPr lang="en-IN" sz="1000" dirty="0"/>
              <a:t> </a:t>
            </a:r>
          </a:p>
          <a:p>
            <a:pPr lvl="0"/>
            <a:r>
              <a:rPr lang="en-IN" sz="1000" dirty="0"/>
              <a:t>index.html – Main HTML entry point </a:t>
            </a:r>
          </a:p>
          <a:p>
            <a:pPr lvl="0"/>
            <a:r>
              <a:rPr lang="en-IN" sz="1000" dirty="0" err="1"/>
              <a:t>src</a:t>
            </a:r>
            <a:r>
              <a:rPr lang="en-IN" sz="1000" dirty="0"/>
              <a:t>/</a:t>
            </a:r>
            <a:r>
              <a:rPr lang="en-IN" sz="1000" dirty="0" err="1"/>
              <a:t>main.jsx</a:t>
            </a:r>
            <a:r>
              <a:rPr lang="en-IN" sz="1000" dirty="0"/>
              <a:t> – React application entry point </a:t>
            </a:r>
          </a:p>
          <a:p>
            <a:pPr lvl="0"/>
            <a:r>
              <a:rPr lang="en-IN" sz="1000" dirty="0" err="1"/>
              <a:t>src</a:t>
            </a:r>
            <a:r>
              <a:rPr lang="en-IN" sz="1000" dirty="0"/>
              <a:t>/components/ </a:t>
            </a:r>
          </a:p>
          <a:p>
            <a:pPr lvl="1"/>
            <a:r>
              <a:rPr lang="en-IN" sz="1000" dirty="0" err="1"/>
              <a:t>Header.jsx</a:t>
            </a:r>
            <a:r>
              <a:rPr lang="en-IN" sz="1000" dirty="0"/>
              <a:t> </a:t>
            </a:r>
          </a:p>
          <a:p>
            <a:pPr lvl="1"/>
            <a:r>
              <a:rPr lang="en-IN" sz="1000" dirty="0" err="1"/>
              <a:t>Sidebar.jsx</a:t>
            </a:r>
            <a:r>
              <a:rPr lang="en-IN" sz="1000" dirty="0"/>
              <a:t> </a:t>
            </a:r>
          </a:p>
          <a:p>
            <a:pPr lvl="1"/>
            <a:r>
              <a:rPr lang="en-IN" sz="1000" dirty="0" err="1"/>
              <a:t>ToastContainer.jsx</a:t>
            </a:r>
            <a:r>
              <a:rPr lang="en-IN" sz="1000" dirty="0"/>
              <a:t> </a:t>
            </a:r>
          </a:p>
          <a:p>
            <a:pPr lvl="1"/>
            <a:r>
              <a:rPr lang="en-IN" sz="1000" dirty="0" err="1"/>
              <a:t>UI.jsx</a:t>
            </a:r>
            <a:r>
              <a:rPr lang="en-IN" sz="1000" dirty="0"/>
              <a:t> </a:t>
            </a:r>
          </a:p>
          <a:p>
            <a:pPr lvl="0"/>
            <a:r>
              <a:rPr lang="en-IN" sz="1000" dirty="0" err="1"/>
              <a:t>src</a:t>
            </a:r>
            <a:r>
              <a:rPr lang="en-IN" sz="1000" dirty="0"/>
              <a:t>/hooks/ </a:t>
            </a:r>
          </a:p>
          <a:p>
            <a:pPr lvl="1"/>
            <a:r>
              <a:rPr lang="en-IN" sz="1000" dirty="0"/>
              <a:t>useAsync.js </a:t>
            </a:r>
          </a:p>
          <a:p>
            <a:pPr lvl="1"/>
            <a:r>
              <a:rPr lang="en-IN" sz="1000" dirty="0"/>
              <a:t>useToast.js </a:t>
            </a:r>
          </a:p>
          <a:p>
            <a:pPr lvl="0"/>
            <a:r>
              <a:rPr lang="en-IN" sz="1000" dirty="0" err="1"/>
              <a:t>src</a:t>
            </a:r>
            <a:r>
              <a:rPr lang="en-IN" sz="1000" dirty="0"/>
              <a:t>/pages/ </a:t>
            </a:r>
          </a:p>
          <a:p>
            <a:pPr lvl="1"/>
            <a:r>
              <a:rPr lang="en-IN" sz="1000" dirty="0" err="1"/>
              <a:t>AIInvestigation.jsx</a:t>
            </a:r>
            <a:r>
              <a:rPr lang="en-IN" sz="1000" dirty="0"/>
              <a:t> </a:t>
            </a:r>
          </a:p>
          <a:p>
            <a:pPr lvl="1"/>
            <a:r>
              <a:rPr lang="en-IN" sz="1000" dirty="0" err="1"/>
              <a:t>Alerts.jsx</a:t>
            </a:r>
            <a:r>
              <a:rPr lang="en-IN" sz="1000" dirty="0"/>
              <a:t> </a:t>
            </a:r>
          </a:p>
          <a:p>
            <a:pPr lvl="1"/>
            <a:r>
              <a:rPr lang="en-IN" sz="1000" dirty="0"/>
              <a:t>Additional dashboard, billing, consumer and report pages</a:t>
            </a:r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 </a:t>
            </a:r>
            <a:endParaRPr lang="en-IN" sz="1000" dirty="0"/>
          </a:p>
        </p:txBody>
      </p:sp>
      <p:pic>
        <p:nvPicPr>
          <p:cNvPr id="4" name="Picture 3" descr="The image displays a web page layout with a navigation bar, various JavaScript files, and a content section for an electricity fraud detection platform.&#10;&#10;AI-generated content may be incorrect.">
            <a:extLst>
              <a:ext uri="{FF2B5EF4-FFF2-40B4-BE49-F238E27FC236}">
                <a16:creationId xmlns:a16="http://schemas.microsoft.com/office/drawing/2014/main" id="{961F5FB2-AC54-57B5-FE37-35A34D0E7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720" y="1255054"/>
            <a:ext cx="6986645" cy="414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 descr="The image appears to be a code editor interface displaying various file and directory listings, including a .env file, package.json, and a node_modules folder, with a user named Bob in the terminal.&#10;&#10;AI-generated content may be incorrect.">
            <a:extLst>
              <a:ext uri="{FF2B5EF4-FFF2-40B4-BE49-F238E27FC236}">
                <a16:creationId xmlns:a16="http://schemas.microsoft.com/office/drawing/2014/main" id="{61AE7A00-489E-E831-CC2F-AADD37B54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68" y="914400"/>
            <a:ext cx="11556664" cy="543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i, I'm Bob,&#10;&#10;AI-generated content may be incorrect.">
            <a:extLst>
              <a:ext uri="{FF2B5EF4-FFF2-40B4-BE49-F238E27FC236}">
                <a16:creationId xmlns:a16="http://schemas.microsoft.com/office/drawing/2014/main" id="{B80E7E8C-9E75-28CE-989C-FDFBE08CE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16" y="482600"/>
            <a:ext cx="11613768" cy="602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Role of Agentic AI in the Solution – Electricity Bill Fraud Detection Agent</a:t>
            </a:r>
          </a:p>
          <a:p>
            <a:r>
              <a:rPr lang="en-IN" b="1" dirty="0"/>
              <a:t>Agentic AI</a:t>
            </a:r>
            <a:r>
              <a:rPr lang="en-IN" dirty="0"/>
              <a:t> enables the Electricity Bill Fraud Detection system to function as an intelligent, goal-driven system rather than a simple data-analysis application. Using </a:t>
            </a:r>
            <a:r>
              <a:rPr lang="en-IN" b="1" dirty="0"/>
              <a:t>IBM Bob</a:t>
            </a:r>
            <a:r>
              <a:rPr lang="en-IN" dirty="0"/>
              <a:t> to design and orchestrate the agent workflow and the </a:t>
            </a:r>
            <a:r>
              <a:rPr lang="en-IN" b="1" dirty="0" err="1"/>
              <a:t>Groq</a:t>
            </a:r>
            <a:r>
              <a:rPr lang="en-IN" b="1" dirty="0"/>
              <a:t> API</a:t>
            </a:r>
            <a:r>
              <a:rPr lang="en-IN" dirty="0"/>
              <a:t> for AI-powered reasoning, the system can </a:t>
            </a:r>
            <a:r>
              <a:rPr lang="en-IN" dirty="0" err="1"/>
              <a:t>analyze</a:t>
            </a:r>
            <a:r>
              <a:rPr lang="en-IN" dirty="0"/>
              <a:t> electricity billing information and generate meaningful fraud-detection insights.</a:t>
            </a:r>
          </a:p>
          <a:p>
            <a:r>
              <a:rPr lang="en-IN" dirty="0"/>
              <a:t>The AI agent performs different tasks such as </a:t>
            </a:r>
            <a:r>
              <a:rPr lang="en-IN" b="1" dirty="0" err="1"/>
              <a:t>analyzing</a:t>
            </a:r>
            <a:r>
              <a:rPr lang="en-IN" b="1" dirty="0"/>
              <a:t> electricity consumption, identifying abnormal patterns, evaluating suspicious bills, generating risk assessments, and explaining why a particular case was flagged</a:t>
            </a:r>
            <a:r>
              <a:rPr lang="en-IN" dirty="0"/>
              <a:t>. These tasks work together to provide a complete investigation workflow.</a:t>
            </a:r>
          </a:p>
          <a:p>
            <a:r>
              <a:rPr lang="en-IN" dirty="0"/>
              <a:t>Agentic AI provides </a:t>
            </a:r>
            <a:r>
              <a:rPr lang="en-IN" b="1" dirty="0"/>
              <a:t>context awareness</a:t>
            </a:r>
            <a:r>
              <a:rPr lang="en-IN" dirty="0"/>
              <a:t> by considering a consumer's historical electricity usage, previous bills, meter readings, and current consumption when </a:t>
            </a:r>
            <a:r>
              <a:rPr lang="en-IN" dirty="0" err="1"/>
              <a:t>analyzing</a:t>
            </a:r>
            <a:r>
              <a:rPr lang="en-IN" dirty="0"/>
              <a:t> a case. This allows the system to identify significant deviations rather than relying only on a single bill.</a:t>
            </a:r>
          </a:p>
          <a:p>
            <a:r>
              <a:rPr lang="en-IN" dirty="0"/>
              <a:t>It also supports </a:t>
            </a:r>
            <a:r>
              <a:rPr lang="en-IN" b="1" dirty="0"/>
              <a:t>dynamic decision-making</a:t>
            </a:r>
            <a:r>
              <a:rPr lang="en-IN" dirty="0"/>
              <a:t> by </a:t>
            </a:r>
            <a:r>
              <a:rPr lang="en-IN" dirty="0" err="1"/>
              <a:t>analyzing</a:t>
            </a:r>
            <a:r>
              <a:rPr lang="en-IN" dirty="0"/>
              <a:t> detected anomalies and generating appropriate explanations. For example, when a consumer's consumption suddenly decreases significantly compared with their historical pattern, the agent can flag the case and explain the reason for the alert.</a:t>
            </a:r>
          </a:p>
          <a:p>
            <a:r>
              <a:rPr lang="en-IN" dirty="0"/>
              <a:t>The agent can also coordinate different backend functions, such as </a:t>
            </a:r>
            <a:r>
              <a:rPr lang="en-IN" b="1" dirty="0"/>
              <a:t>anomaly detection, bill analysis, alert generation, and AI investigation</a:t>
            </a:r>
            <a:r>
              <a:rPr lang="en-IN" dirty="0"/>
              <a:t>, through the Node.js and Express.js backend.</a:t>
            </a:r>
          </a:p>
          <a:p>
            <a:r>
              <a:rPr lang="en-IN" dirty="0"/>
              <a:t>Overall, </a:t>
            </a:r>
            <a:r>
              <a:rPr lang="en-IN" b="1" dirty="0"/>
              <a:t>Agentic AI makes the system proactive, context-aware, and investigation-oriented</a:t>
            </a:r>
            <a:r>
              <a:rPr lang="en-IN" dirty="0"/>
              <a:t>, helping electricity providers identify potential billing fraud and understand the reasons behind suspicious cases more efficiently.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 descr="The image displays a dashboard interface for the GridGuard Al fraud detection platform, featuring statistics on electricity consumption, a list of consumers, and a map of high-risk areas, with options to investigate suspicious cases.&#10;&#10;AI-generated content may be incorrect.">
            <a:extLst>
              <a:ext uri="{FF2B5EF4-FFF2-40B4-BE49-F238E27FC236}">
                <a16:creationId xmlns:a16="http://schemas.microsoft.com/office/drawing/2014/main" id="{A67D2B3F-6753-6055-56FD-771D9FB97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333" y="973141"/>
            <a:ext cx="8864315" cy="554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 descr="The image shows a computer screen displaying a dashboard with various tabs and information about consumer accounts, including their IDs, names, areas, meter numbers, risk levels, and bills.&#10;&#10;AI-generated content may be incorrect.">
            <a:extLst>
              <a:ext uri="{FF2B5EF4-FFF2-40B4-BE49-F238E27FC236}">
                <a16:creationId xmlns:a16="http://schemas.microsoft.com/office/drawing/2014/main" id="{10A779E3-2FE1-FACC-280C-2689514D8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724" y="816977"/>
            <a:ext cx="9017000" cy="563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 descr="The image displays a dashboard interface for a fraud detection platform, showing a list of investigations, alerts, and reports related to various consumers, with details on detected anomalies and pending actions.&#10;&#10;AI-generated content may be incorrect.">
            <a:extLst>
              <a:ext uri="{FF2B5EF4-FFF2-40B4-BE49-F238E27FC236}">
                <a16:creationId xmlns:a16="http://schemas.microsoft.com/office/drawing/2014/main" id="{2D08D033-DC5F-3281-2588-592D2C8E5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54" y="816977"/>
            <a:ext cx="1072031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proposed </a:t>
            </a:r>
            <a:r>
              <a:rPr lang="en-IN" b="1" dirty="0"/>
              <a:t>AI Agent for Electricity Bill Fraud Detection</a:t>
            </a:r>
            <a:r>
              <a:rPr lang="en-IN" dirty="0"/>
              <a:t> stands out by combining </a:t>
            </a:r>
            <a:r>
              <a:rPr lang="en-IN" b="1" dirty="0"/>
              <a:t>Agentic AI, anomaly detection, AI-powered investigation, and explainable insights</a:t>
            </a:r>
            <a:r>
              <a:rPr lang="en-IN" dirty="0"/>
              <a:t> into a single intelligent system.</a:t>
            </a:r>
          </a:p>
          <a:p>
            <a:pPr lvl="0"/>
            <a:r>
              <a:rPr lang="en-IN" b="1" dirty="0"/>
              <a:t>Agentic AI-Based Fraud Investigation</a:t>
            </a:r>
            <a:r>
              <a:rPr lang="en-IN" dirty="0"/>
              <a:t> – Instead of simply displaying abnormal bills, the AI agent can coordinate different tasks such as consumption analysis, anomaly detection, bill verification, and investigation insights. </a:t>
            </a:r>
          </a:p>
          <a:p>
            <a:pPr lvl="0"/>
            <a:r>
              <a:rPr lang="en-IN" b="1" dirty="0"/>
              <a:t>Consumption Pattern Analysis</a:t>
            </a:r>
            <a:r>
              <a:rPr lang="en-IN" dirty="0"/>
              <a:t> – The system </a:t>
            </a:r>
            <a:r>
              <a:rPr lang="en-IN" dirty="0" err="1"/>
              <a:t>analyzes</a:t>
            </a:r>
            <a:r>
              <a:rPr lang="en-IN" dirty="0"/>
              <a:t> a consumer's historical electricity usage to identify unusual changes, including sudden drops, unexpected spikes, and abnormal consumption trends. </a:t>
            </a:r>
          </a:p>
          <a:p>
            <a:pPr lvl="0"/>
            <a:r>
              <a:rPr lang="en-IN" b="1" dirty="0"/>
              <a:t>AI-Based Anomaly Detection</a:t>
            </a:r>
            <a:r>
              <a:rPr lang="en-IN" dirty="0"/>
              <a:t> – Automatically identifies electricity bills or consumers whose consumption significantly deviates from their historical patterns. </a:t>
            </a:r>
          </a:p>
          <a:p>
            <a:pPr lvl="0"/>
            <a:r>
              <a:rPr lang="en-IN" b="1" dirty="0"/>
              <a:t>Explainable Fraud Insights</a:t>
            </a:r>
            <a:r>
              <a:rPr lang="en-IN" dirty="0"/>
              <a:t> – Rather than simply marking a bill as </a:t>
            </a:r>
            <a:r>
              <a:rPr lang="en-IN" i="1" dirty="0"/>
              <a:t>“suspicious,”</a:t>
            </a:r>
            <a:r>
              <a:rPr lang="en-IN" dirty="0"/>
              <a:t> the system explains </a:t>
            </a:r>
            <a:r>
              <a:rPr lang="en-IN" b="1" dirty="0"/>
              <a:t>why it was flagged</a:t>
            </a:r>
            <a:r>
              <a:rPr lang="en-IN" dirty="0"/>
              <a:t>, making the results easier for electricity officials to understand and investigate. </a:t>
            </a:r>
          </a:p>
          <a:p>
            <a:pPr lvl="0"/>
            <a:r>
              <a:rPr lang="en-IN" b="1" dirty="0"/>
              <a:t>AI-Powered Investigation</a:t>
            </a:r>
            <a:r>
              <a:rPr lang="en-IN" dirty="0"/>
              <a:t> – The </a:t>
            </a:r>
            <a:r>
              <a:rPr lang="en-IN" b="1" dirty="0" err="1"/>
              <a:t>Groq</a:t>
            </a:r>
            <a:r>
              <a:rPr lang="en-IN" b="1" dirty="0"/>
              <a:t> API</a:t>
            </a:r>
            <a:r>
              <a:rPr lang="en-IN" dirty="0"/>
              <a:t> can be used to </a:t>
            </a:r>
            <a:r>
              <a:rPr lang="en-IN" dirty="0" err="1"/>
              <a:t>analyze</a:t>
            </a:r>
            <a:r>
              <a:rPr lang="en-IN" dirty="0"/>
              <a:t> detected anomalies and generate a natural-language investigation summary for each suspicious case. </a:t>
            </a:r>
          </a:p>
          <a:p>
            <a:pPr lvl="0"/>
            <a:r>
              <a:rPr lang="en-IN" b="1" dirty="0"/>
              <a:t>Interactive Fraud Detection Dashboard</a:t>
            </a:r>
            <a:r>
              <a:rPr lang="en-IN" dirty="0"/>
              <a:t> – The </a:t>
            </a:r>
            <a:r>
              <a:rPr lang="en-IN" b="1" dirty="0"/>
              <a:t>React.js</a:t>
            </a:r>
            <a:r>
              <a:rPr lang="en-IN" dirty="0"/>
              <a:t> interface provides a centralized view of consumers, bills, alerts, anomalies, and investigation results. </a:t>
            </a:r>
          </a:p>
          <a:p>
            <a:pPr lvl="0"/>
            <a:r>
              <a:rPr lang="en-IN" b="1" dirty="0"/>
              <a:t>Automated Alert Generation</a:t>
            </a:r>
            <a:r>
              <a:rPr lang="en-IN" dirty="0"/>
              <a:t> – Suspicious cases can be automatically identified and presented as alerts, allowing investigators to focus on cases requiring further attention. </a:t>
            </a:r>
          </a:p>
          <a:p>
            <a:pPr lvl="0"/>
            <a:r>
              <a:rPr lang="en-IN" b="1" dirty="0"/>
              <a:t>Human-in-the-Loop Investigation</a:t>
            </a:r>
            <a:r>
              <a:rPr lang="en-IN" dirty="0"/>
              <a:t> – The system supports human investigators by providing evidence and explanations rather than automatically declaring a consumer guilty of fraud. </a:t>
            </a:r>
          </a:p>
          <a:p>
            <a:pPr lvl="0"/>
            <a:r>
              <a:rPr lang="en-IN" b="1" dirty="0"/>
              <a:t>Scalable Backend Architecture</a:t>
            </a:r>
            <a:r>
              <a:rPr lang="en-IN" dirty="0"/>
              <a:t> – </a:t>
            </a:r>
            <a:r>
              <a:rPr lang="en-IN" b="1" dirty="0"/>
              <a:t>Node.js and Express.js</a:t>
            </a:r>
            <a:r>
              <a:rPr lang="en-IN" dirty="0"/>
              <a:t> provide REST APIs that connect the React frontend, fraud-detection logic, and AI services.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CA4FC1-8C82-B4F3-EBAC-A13685E0AA22}"/>
              </a:ext>
            </a:extLst>
          </p:cNvPr>
          <p:cNvSpPr txBox="1"/>
          <p:nvPr/>
        </p:nvSpPr>
        <p:spPr>
          <a:xfrm>
            <a:off x="5826014" y="127339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rehan8maqsood-wq/IBM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dirty="0"/>
              <a:t>The </a:t>
            </a:r>
            <a:r>
              <a:rPr lang="en-IN" b="1" dirty="0"/>
              <a:t>AI Agent for Electricity Bill Fraud Detection</a:t>
            </a:r>
            <a:r>
              <a:rPr lang="en-IN" dirty="0"/>
              <a:t> can be further enhanced to provide more advanced, automated, and reliable fraud-detection capabilities.</a:t>
            </a:r>
          </a:p>
          <a:p>
            <a:pPr lvl="0"/>
            <a:r>
              <a:rPr lang="en-IN" b="1" dirty="0"/>
              <a:t>1. Real-Time Smart Meter Integration</a:t>
            </a:r>
            <a:r>
              <a:rPr lang="en-IN" dirty="0"/>
              <a:t> – Connect the system with smart meters to continuously receive electricity consumption data and detect suspicious patterns in real time. </a:t>
            </a:r>
          </a:p>
          <a:p>
            <a:pPr lvl="0"/>
            <a:r>
              <a:rPr lang="en-IN" b="1" dirty="0"/>
              <a:t>2. Advanced Machine Learning Models</a:t>
            </a:r>
            <a:r>
              <a:rPr lang="en-IN" dirty="0"/>
              <a:t> – Implement models such as Random Forest, Isolation Forest, </a:t>
            </a:r>
            <a:r>
              <a:rPr lang="en-IN" dirty="0" err="1"/>
              <a:t>XGBoost</a:t>
            </a:r>
            <a:r>
              <a:rPr lang="en-IN" dirty="0"/>
              <a:t>, or deep-learning techniques to improve anomaly detection using larger historical datasets. </a:t>
            </a:r>
          </a:p>
          <a:p>
            <a:pPr lvl="0"/>
            <a:r>
              <a:rPr lang="en-IN" b="1" dirty="0"/>
              <a:t>3. Predictive Fraud Detection</a:t>
            </a:r>
            <a:r>
              <a:rPr lang="en-IN" dirty="0"/>
              <a:t> – Move beyond detecting existing anomalies and predict consumers who may develop suspicious consumption patterns in the future. </a:t>
            </a:r>
          </a:p>
          <a:p>
            <a:pPr lvl="0"/>
            <a:r>
              <a:rPr lang="en-IN" b="1" dirty="0"/>
              <a:t>4. Multi-Agent Investigation System</a:t>
            </a:r>
            <a:r>
              <a:rPr lang="en-IN" dirty="0"/>
              <a:t> – Introduce specialized AI agents for </a:t>
            </a:r>
            <a:r>
              <a:rPr lang="en-IN" b="1" dirty="0"/>
              <a:t>consumption analysis, billing verification, meter analysis, fraud investigation, and report generation</a:t>
            </a:r>
            <a:r>
              <a:rPr lang="en-IN" dirty="0"/>
              <a:t>, allowing them to collaborate on complex cases. </a:t>
            </a:r>
          </a:p>
          <a:p>
            <a:pPr lvl="0"/>
            <a:r>
              <a:rPr lang="en-IN" b="1" dirty="0"/>
              <a:t>5. Automated Investigation Reports</a:t>
            </a:r>
            <a:r>
              <a:rPr lang="en-IN" dirty="0"/>
              <a:t> – Generate detailed reports containing the consumer's consumption history, detected anomalies, risk indicators, and AI-generated explanations. </a:t>
            </a:r>
          </a:p>
          <a:p>
            <a:pPr lvl="0"/>
            <a:r>
              <a:rPr lang="en-IN" b="1" dirty="0"/>
              <a:t>6. Real-Time Alerts and Notifications</a:t>
            </a:r>
            <a:r>
              <a:rPr lang="en-IN" dirty="0"/>
              <a:t> – Send alerts to authorized electricity officials through email, SMS, or a mobile application when high-risk anomalies are detected. </a:t>
            </a:r>
          </a:p>
          <a:p>
            <a:pPr lvl="0"/>
            <a:r>
              <a:rPr lang="en-IN" b="1" dirty="0"/>
              <a:t>7. Geographical Fraud Analysis</a:t>
            </a:r>
            <a:r>
              <a:rPr lang="en-IN" dirty="0"/>
              <a:t> – Add location-based analysis to identify geographical areas with unusually high concentrations of suspicious cases. </a:t>
            </a:r>
          </a:p>
          <a:p>
            <a:pPr lvl="0"/>
            <a:r>
              <a:rPr lang="en-IN" b="1" dirty="0"/>
              <a:t>8. Meter Tampering Detection</a:t>
            </a:r>
            <a:r>
              <a:rPr lang="en-IN" dirty="0"/>
              <a:t> – Integrate smart-meter and IoT sensor data to identify possible physical meter tampering or unauthorized connections. </a:t>
            </a:r>
          </a:p>
          <a:p>
            <a:pPr lvl="0"/>
            <a:r>
              <a:rPr lang="en-IN" b="1" dirty="0"/>
              <a:t>9. Continuous Learning</a:t>
            </a:r>
            <a:r>
              <a:rPr lang="en-IN" dirty="0"/>
              <a:t> – Allow the system to learn from investigator feedback, such as whether a flagged case was confirmed as fraud or determined to be a legitimate anomaly. </a:t>
            </a:r>
          </a:p>
          <a:p>
            <a:pPr lvl="0"/>
            <a:r>
              <a:rPr lang="en-IN" b="1" dirty="0"/>
              <a:t>10. Improved Explainable AI</a:t>
            </a:r>
            <a:r>
              <a:rPr lang="en-IN" dirty="0"/>
              <a:t> – Provide more detailed explanations and visual evidence showing exactly how the system reached an anomaly or risk assessment.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7" name="Picture 6" descr="Getting Started with Artificial Intelligence&#10;&#10;AI-generated content may be incorrect.">
            <a:extLst>
              <a:ext uri="{FF2B5EF4-FFF2-40B4-BE49-F238E27FC236}">
                <a16:creationId xmlns:a16="http://schemas.microsoft.com/office/drawing/2014/main" id="{9B4464B6-9826-361C-CBF2-1B73F7358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133" y="847981"/>
            <a:ext cx="7029385" cy="516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 descr="Troubleshoot Your Code Using IBM Bob&#10;&#10;AI-generated content may be incorrect.">
            <a:extLst>
              <a:ext uri="{FF2B5EF4-FFF2-40B4-BE49-F238E27FC236}">
                <a16:creationId xmlns:a16="http://schemas.microsoft.com/office/drawing/2014/main" id="{AEC0D7A1-53CF-F3CB-25FB-31756B446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398" y="903499"/>
            <a:ext cx="8953513" cy="557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1736</Words>
  <Application>Microsoft Office PowerPoint</Application>
  <PresentationFormat>Widescreen</PresentationFormat>
  <Paragraphs>182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K Rehan Maqsood</cp:lastModifiedBy>
  <cp:revision>3</cp:revision>
  <dcterms:created xsi:type="dcterms:W3CDTF">2025-07-08T05:06:56Z</dcterms:created>
  <dcterms:modified xsi:type="dcterms:W3CDTF">2026-09-29T07:00:59Z</dcterms:modified>
</cp:coreProperties>
</file>